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  <p:sldMasterId id="2147483751" r:id="rId2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4A27E2-3ED3-484D-8810-2B11C022F68D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94ACB-AA4F-4DE1-81EF-2D395723C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59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0" y="688288"/>
            <a:ext cx="4433455" cy="3966824"/>
          </a:xfrm>
        </p:spPr>
        <p:txBody>
          <a:bodyPr anchor="t">
            <a:noAutofit/>
          </a:bodyPr>
          <a:lstStyle>
            <a:lvl1pPr>
              <a:defRPr sz="7200" b="0">
                <a:latin typeface="+mn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AF4F-C46E-4A7B-AF85-1B8E60C4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42E324-B3F9-BA8B-E636-0DB5DCF6B8A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6096000" cy="685799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4E5E201-FB99-8711-C52C-CBA123864F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11636" y="5936851"/>
            <a:ext cx="3283527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72241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8">
          <p15:clr>
            <a:srgbClr val="FBAE40"/>
          </p15:clr>
        </p15:guide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685801"/>
            <a:ext cx="7661275" cy="2057400"/>
          </a:xfrm>
        </p:spPr>
        <p:txBody>
          <a:bodyPr wrap="square" anchor="t">
            <a:noAutofit/>
          </a:bodyPr>
          <a:lstStyle>
            <a:lvl1pPr>
              <a:defRPr sz="6000" b="0">
                <a:latin typeface="+mn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AF4F-C46E-4A7B-AF85-1B8E60C4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E235B5-1CFD-192F-6EB8-F70885CA89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2" y="3429000"/>
            <a:ext cx="3283527" cy="238024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5E227211-DEE4-1F0C-C1BA-C744EE226C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2282" y="2826327"/>
            <a:ext cx="3283527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AB1C8803-0542-76BB-6DF0-FCC5FE74BC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54237" y="2819905"/>
            <a:ext cx="3283527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4E5E201-FB99-8711-C52C-CBA123864F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16191" y="2826327"/>
            <a:ext cx="3283527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94F64B39-6AAB-933F-C46A-07FA43BE056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54237" y="3429000"/>
            <a:ext cx="3283527" cy="238023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35C6E61-8847-4830-9FF4-365A758995C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16191" y="3429001"/>
            <a:ext cx="3283527" cy="238023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400709" y="5885947"/>
            <a:ext cx="11328458" cy="1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</p:spTree>
    <p:extLst>
      <p:ext uri="{BB962C8B-B14F-4D97-AF65-F5344CB8AC3E}">
        <p14:creationId xmlns:p14="http://schemas.microsoft.com/office/powerpoint/2010/main" val="4244063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8">
          <p15:clr>
            <a:srgbClr val="FBAE40"/>
          </p15:clr>
        </p15:guide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6" y="685804"/>
            <a:ext cx="7661274" cy="2069086"/>
          </a:xfrm>
        </p:spPr>
        <p:txBody>
          <a:bodyPr anchor="t">
            <a:noAutofit/>
          </a:bodyPr>
          <a:lstStyle>
            <a:lvl1pPr>
              <a:defRPr sz="6000" b="0">
                <a:latin typeface="+mn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AF4F-C46E-4A7B-AF85-1B8E60C4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E235B5-1CFD-192F-6EB8-F70885CA89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2" y="3429000"/>
            <a:ext cx="3283527" cy="238024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5E227211-DEE4-1F0C-C1BA-C744EE226C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2282" y="2826327"/>
            <a:ext cx="3283527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4E5E201-FB99-8711-C52C-CBA123864F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54237" y="2826327"/>
            <a:ext cx="3283527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94F64B39-6AAB-933F-C46A-07FA43BE056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54237" y="3429000"/>
            <a:ext cx="3283527" cy="238023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400709" y="5885947"/>
            <a:ext cx="11328458" cy="1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42E324-B3F9-BA8B-E636-0DB5DCF6B8A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853487" y="1153397"/>
            <a:ext cx="2871788" cy="449925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575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8">
          <p15:clr>
            <a:srgbClr val="FBAE40"/>
          </p15:clr>
        </p15:guide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umns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688289"/>
            <a:ext cx="5629275" cy="2689838"/>
          </a:xfrm>
        </p:spPr>
        <p:txBody>
          <a:bodyPr anchor="t">
            <a:noAutofit/>
          </a:bodyPr>
          <a:lstStyle>
            <a:lvl1pPr>
              <a:defRPr sz="6000" b="0">
                <a:latin typeface="+mn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AF4F-C46E-4A7B-AF85-1B8E60C4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4E5E201-FB99-8711-C52C-CBA123864F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61909" y="1030325"/>
            <a:ext cx="4763366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94F64B39-6AAB-933F-C46A-07FA43BE056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61909" y="1632997"/>
            <a:ext cx="4763366" cy="119333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400709" y="5885947"/>
            <a:ext cx="11328458" cy="1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8F14F2A9-59FA-754E-5B1E-11A58CA07A3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61909" y="2836716"/>
            <a:ext cx="4763366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B23DCBD-0AA5-7D57-EC78-48DF1E6328C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61909" y="3439389"/>
            <a:ext cx="4763366" cy="141153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3020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8">
          <p15:clr>
            <a:srgbClr val="FBAE40"/>
          </p15:clr>
        </p15:guide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688289"/>
            <a:ext cx="5629275" cy="2138039"/>
          </a:xfrm>
        </p:spPr>
        <p:txBody>
          <a:bodyPr anchor="t">
            <a:noAutofit/>
          </a:bodyPr>
          <a:lstStyle>
            <a:lvl1pPr>
              <a:defRPr sz="6000" b="0">
                <a:latin typeface="+mn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AF4F-C46E-4A7B-AF85-1B8E60C4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E235B5-1CFD-192F-6EB8-F70885CA89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1" y="3429000"/>
            <a:ext cx="5143501" cy="238024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5E227211-DEE4-1F0C-C1BA-C744EE226C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2282" y="2826327"/>
            <a:ext cx="5143500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400709" y="5885947"/>
            <a:ext cx="11328458" cy="1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42E324-B3F9-BA8B-E636-0DB5DCF6B8A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6000" y="1153397"/>
            <a:ext cx="5629275" cy="449925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450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8">
          <p15:clr>
            <a:srgbClr val="FBAE40"/>
          </p15:clr>
        </p15:guide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umns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688289"/>
            <a:ext cx="5629275" cy="2689838"/>
          </a:xfrm>
        </p:spPr>
        <p:txBody>
          <a:bodyPr anchor="t">
            <a:noAutofit/>
          </a:bodyPr>
          <a:lstStyle>
            <a:lvl1pPr>
              <a:defRPr sz="6000" b="0">
                <a:latin typeface="+mn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AF4F-C46E-4A7B-AF85-1B8E60C4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4E5E201-FB99-8711-C52C-CBA123864F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61909" y="1030325"/>
            <a:ext cx="4763366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94F64B39-6AAB-933F-C46A-07FA43BE056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61909" y="1632997"/>
            <a:ext cx="4763366" cy="119333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400709" y="5885947"/>
            <a:ext cx="11328458" cy="1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8F14F2A9-59FA-754E-5B1E-11A58CA07A3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61909" y="2836716"/>
            <a:ext cx="4763366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B23DCBD-0AA5-7D57-EC78-48DF1E6328C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61909" y="3439389"/>
            <a:ext cx="4763366" cy="141153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D96AF8D7-D3E5-B5C6-030A-DFBC5AEC7D0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92282" y="3616037"/>
            <a:ext cx="5503718" cy="2071901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468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8">
          <p15:clr>
            <a:srgbClr val="FBAE40"/>
          </p15:clr>
        </p15:guide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CD049-71FF-411B-BCE5-A051E826B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C7692D-ABCF-997B-650B-266DF91A7F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748"/>
            <a:ext cx="2743200" cy="36433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E306B-148D-CE50-D43B-2DEE13785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748"/>
            <a:ext cx="4114800" cy="36433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411AD-3E1B-501F-B9F8-D0AAF3F5F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449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E72686-CE9D-3B74-9DE2-86FB708C15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748"/>
            <a:ext cx="2743200" cy="36433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D822D6-F437-1E07-DBC9-57FD73212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748"/>
            <a:ext cx="4114800" cy="36433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AF305-6821-F7EE-9D30-6FE81EC2B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79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0" y="688288"/>
            <a:ext cx="4433455" cy="3966824"/>
          </a:xfrm>
        </p:spPr>
        <p:txBody>
          <a:bodyPr anchor="t">
            <a:noAutofit/>
          </a:bodyPr>
          <a:lstStyle>
            <a:lvl1pPr>
              <a:defRPr sz="7500" b="0">
                <a:latin typeface="+mn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AF4F-C46E-4A7B-AF85-1B8E60C4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42E324-B3F9-BA8B-E636-0DB5DCF6B8A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6096000" cy="685799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4E5E201-FB99-8711-C52C-CBA123864F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11636" y="5936851"/>
            <a:ext cx="3283527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35510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8">
          <p15:clr>
            <a:srgbClr val="FBAE40"/>
          </p15:clr>
        </p15:guide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1066667" cy="4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/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868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1AA6-C0A7-46C5-8410-C1C48F3033F9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95BFC-79E4-4993-886D-191D8573C7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0246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1AA6-C0A7-46C5-8410-C1C48F3033F9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95BFC-79E4-4993-886D-191D8573C7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97064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1AA6-C0A7-46C5-8410-C1C48F3033F9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95BFC-79E4-4993-886D-191D8573C7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3349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1AA6-C0A7-46C5-8410-C1C48F3033F9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95BFC-79E4-4993-886D-191D8573C7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2645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1AA6-C0A7-46C5-8410-C1C48F3033F9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95BFC-79E4-4993-886D-191D8573C7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9485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1AA6-C0A7-46C5-8410-C1C48F3033F9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95BFC-79E4-4993-886D-191D8573C7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2425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1AA6-C0A7-46C5-8410-C1C48F3033F9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95BFC-79E4-4993-886D-191D8573C7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34523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1AA6-C0A7-46C5-8410-C1C48F3033F9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95BFC-79E4-4993-886D-191D8573C7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9747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95BFC-79E4-4993-886D-191D8573C7AE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1AA6-C0A7-46C5-8410-C1C48F3033F9}" type="datetimeFigureOut">
              <a:rPr lang="en-IN" smtClean="0"/>
              <a:t>14-10-2024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5788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1AA6-C0A7-46C5-8410-C1C48F3033F9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95BFC-79E4-4993-886D-191D8573C7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3975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1AA6-C0A7-46C5-8410-C1C48F3033F9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95BFC-79E4-4993-886D-191D8573C7A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94369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1AA6-C0A7-46C5-8410-C1C48F3033F9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95BFC-79E4-4993-886D-191D8573C7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2485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1AA6-C0A7-46C5-8410-C1C48F3033F9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95BFC-79E4-4993-886D-191D8573C7A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02902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1AA6-C0A7-46C5-8410-C1C48F3033F9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95BFC-79E4-4993-886D-191D8573C7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8211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1AA6-C0A7-46C5-8410-C1C48F3033F9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95BFC-79E4-4993-886D-191D8573C7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8742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1AA6-C0A7-46C5-8410-C1C48F3033F9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95BFC-79E4-4993-886D-191D8573C7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6662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BD9625-ED1C-9C68-D8B9-B6502FCCB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523"/>
            <a:ext cx="10515600" cy="1325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293A9-2FAF-A155-DC7A-FE995344A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229"/>
            <a:ext cx="10515600" cy="4351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1B5DE-B15D-9D1C-21D2-953FFCB007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323958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">
            <a:extLst>
              <a:ext uri="{FF2B5EF4-FFF2-40B4-BE49-F238E27FC236}">
                <a16:creationId xmlns:a16="http://schemas.microsoft.com/office/drawing/2014/main" id="{2CC72135-826E-3084-1ACC-9293218F24EE}"/>
              </a:ext>
            </a:extLst>
          </p:cNvPr>
          <p:cNvGrpSpPr/>
          <p:nvPr userDrawn="1"/>
        </p:nvGrpSpPr>
        <p:grpSpPr>
          <a:xfrm>
            <a:off x="11350549" y="6275881"/>
            <a:ext cx="378619" cy="267073"/>
            <a:chOff x="0" y="0"/>
            <a:chExt cx="504824" cy="356095"/>
          </a:xfrm>
        </p:grpSpPr>
        <p:sp>
          <p:nvSpPr>
            <p:cNvPr id="8" name="Line">
              <a:extLst>
                <a:ext uri="{FF2B5EF4-FFF2-40B4-BE49-F238E27FC236}">
                  <a16:creationId xmlns:a16="http://schemas.microsoft.com/office/drawing/2014/main" id="{024BCD63-D1A0-9E6D-3EA4-16D1E0509D18}"/>
                </a:ext>
              </a:extLst>
            </p:cNvPr>
            <p:cNvSpPr/>
            <p:nvPr/>
          </p:nvSpPr>
          <p:spPr>
            <a:xfrm>
              <a:off x="0" y="180134"/>
              <a:ext cx="504825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9" name="Line">
              <a:extLst>
                <a:ext uri="{FF2B5EF4-FFF2-40B4-BE49-F238E27FC236}">
                  <a16:creationId xmlns:a16="http://schemas.microsoft.com/office/drawing/2014/main" id="{3E483999-BF7F-A26B-845E-8C65CD948361}"/>
                </a:ext>
              </a:extLst>
            </p:cNvPr>
            <p:cNvSpPr/>
            <p:nvPr/>
          </p:nvSpPr>
          <p:spPr>
            <a:xfrm>
              <a:off x="324689" y="0"/>
              <a:ext cx="177185" cy="17718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10" name="Line">
              <a:extLst>
                <a:ext uri="{FF2B5EF4-FFF2-40B4-BE49-F238E27FC236}">
                  <a16:creationId xmlns:a16="http://schemas.microsoft.com/office/drawing/2014/main" id="{B9696663-8271-B1D6-1A2F-9E2DDAA3DD5E}"/>
                </a:ext>
              </a:extLst>
            </p:cNvPr>
            <p:cNvSpPr/>
            <p:nvPr/>
          </p:nvSpPr>
          <p:spPr>
            <a:xfrm flipV="1">
              <a:off x="324689" y="178911"/>
              <a:ext cx="177185" cy="17718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11" name="textruta 3">
            <a:extLst>
              <a:ext uri="{FF2B5EF4-FFF2-40B4-BE49-F238E27FC236}">
                <a16:creationId xmlns:a16="http://schemas.microsoft.com/office/drawing/2014/main" id="{2DC00BBB-96D5-E144-A351-6386B4BABF32}"/>
              </a:ext>
            </a:extLst>
          </p:cNvPr>
          <p:cNvSpPr txBox="1"/>
          <p:nvPr userDrawn="1"/>
        </p:nvSpPr>
        <p:spPr>
          <a:xfrm>
            <a:off x="10707476" y="6260827"/>
            <a:ext cx="759780" cy="30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89" rIns="34289">
            <a:spAutoFit/>
          </a:bodyPr>
          <a:lstStyle>
            <a:lvl1pPr>
              <a:lnSpc>
                <a:spcPct val="90000"/>
              </a:lnSpc>
              <a:spcBef>
                <a:spcPts val="600"/>
              </a:spcBef>
              <a:defRPr sz="2000">
                <a:solidFill>
                  <a:srgbClr val="000000"/>
                </a:solidFill>
              </a:defRPr>
            </a:lvl1pPr>
          </a:lstStyle>
          <a:p>
            <a:r>
              <a:rPr sz="1500" dirty="0"/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2276643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9" r:id="rId7"/>
    <p:sldLayoutId id="2147483680" r:id="rId8"/>
    <p:sldLayoutId id="2147483681" r:id="rId9"/>
    <p:sldLayoutId id="2147483682" r:id="rId10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0">
          <p15:clr>
            <a:srgbClr val="F26B43"/>
          </p15:clr>
        </p15:guide>
        <p15:guide id="2" pos="392">
          <p15:clr>
            <a:srgbClr val="F26B43"/>
          </p15:clr>
        </p15:guide>
        <p15:guide id="3" orient="horz" pos="57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209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  <p:sldLayoutId id="2147483766" r:id="rId15"/>
    <p:sldLayoutId id="2147483767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A98AD-10BA-E81C-EF10-287616524A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Real-Time Audio Classification for Arduino Car Control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60D0A6-D0D7-1C8A-5FC7-1315D8D9CC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Recognising Keywords and Using them to control an Arduino Car</a:t>
            </a:r>
          </a:p>
        </p:txBody>
      </p:sp>
    </p:spTree>
    <p:extLst>
      <p:ext uri="{BB962C8B-B14F-4D97-AF65-F5344CB8AC3E}">
        <p14:creationId xmlns:p14="http://schemas.microsoft.com/office/powerpoint/2010/main" val="1585736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643DF9-0A81-FE2B-760E-1FCD733289B9}"/>
              </a:ext>
            </a:extLst>
          </p:cNvPr>
          <p:cNvSpPr txBox="1"/>
          <p:nvPr/>
        </p:nvSpPr>
        <p:spPr>
          <a:xfrm>
            <a:off x="334297" y="1266428"/>
            <a:ext cx="1071716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project explores the integration of audio classification to control an Arduino car using voice commands. The primary goal is to create a user-friendly interface that enables hands-free operation of the vehicle.</a:t>
            </a:r>
          </a:p>
          <a:p>
            <a:endParaRPr lang="en-US" sz="2000" b="1" dirty="0"/>
          </a:p>
          <a:p>
            <a:r>
              <a:rPr lang="en-US" sz="2000" b="1" dirty="0"/>
              <a:t>Key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Voice Input: </a:t>
            </a:r>
            <a:r>
              <a:rPr lang="en-US" dirty="0"/>
              <a:t>Commands will be captured using a microphone. The audio input will be processed and recognized before being transmitted to the car for execution.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Command Set: </a:t>
            </a:r>
            <a:r>
              <a:rPr lang="en-US" dirty="0"/>
              <a:t>Users can issue commands such as "forward“, "left“, "right“, “up“, “down“, or “stop" to control the car's movement and direction.</a:t>
            </a:r>
          </a:p>
          <a:p>
            <a:endParaRPr lang="en-US" dirty="0"/>
          </a:p>
          <a:p>
            <a:r>
              <a:rPr lang="en-US" sz="2000" b="1" dirty="0"/>
              <a:t>Practical Application</a:t>
            </a:r>
          </a:p>
          <a:p>
            <a:r>
              <a:rPr lang="en-US" dirty="0"/>
              <a:t>This project demonstrates the practical applications of audio processing and classification, showcasing how voice commands can enhance user interaction with robotic systems.</a:t>
            </a:r>
          </a:p>
          <a:p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D61A290-C674-3F8F-7EE6-7B022F05F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3536" y="2293062"/>
            <a:ext cx="6115664" cy="3861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6BE434-2276-63EF-DB12-B786529C7C7F}"/>
              </a:ext>
            </a:extLst>
          </p:cNvPr>
          <p:cNvSpPr txBox="1"/>
          <p:nvPr/>
        </p:nvSpPr>
        <p:spPr>
          <a:xfrm>
            <a:off x="334297" y="349817"/>
            <a:ext cx="45916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/>
              <a:t>Project Overview-</a:t>
            </a:r>
          </a:p>
        </p:txBody>
      </p:sp>
    </p:spTree>
    <p:extLst>
      <p:ext uri="{BB962C8B-B14F-4D97-AF65-F5344CB8AC3E}">
        <p14:creationId xmlns:p14="http://schemas.microsoft.com/office/powerpoint/2010/main" val="23169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F0A3F-D3A4-8C58-4E96-6301D1617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645" y="247138"/>
            <a:ext cx="3134032" cy="1109714"/>
          </a:xfrm>
        </p:spPr>
        <p:txBody>
          <a:bodyPr>
            <a:normAutofit/>
          </a:bodyPr>
          <a:lstStyle/>
          <a:p>
            <a:r>
              <a:rPr lang="en-IN" sz="3000" dirty="0">
                <a:latin typeface="+mn-lt"/>
              </a:rPr>
              <a:t>Main Objectives-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CEB8DB-F209-00CA-211E-24C520130D2A}"/>
              </a:ext>
            </a:extLst>
          </p:cNvPr>
          <p:cNvSpPr txBox="1"/>
          <p:nvPr/>
        </p:nvSpPr>
        <p:spPr>
          <a:xfrm>
            <a:off x="196645" y="1465007"/>
            <a:ext cx="11277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Real-Time Audio Processing: </a:t>
            </a:r>
            <a:r>
              <a:rPr lang="en-US" dirty="0"/>
              <a:t>Convert audio data into spectrograms using Short-Time Fourier Transforms (STFT), which retain time information in the transformation from time-domain signals.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Spectrogram Classification</a:t>
            </a:r>
            <a:r>
              <a:rPr lang="en-US" dirty="0"/>
              <a:t>: Use a Convolutional Neural Network (CNN) to classify the spectrogram images, trained on audio samples of people speaking commands.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Practical Application Demonstration</a:t>
            </a:r>
            <a:r>
              <a:rPr lang="en-US" dirty="0"/>
              <a:t>: Showcase how audio processing and classification can be applied in robotics to enhance user interaction.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125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F4067B-1B49-20F1-0EB6-9DE54AE699C3}"/>
              </a:ext>
            </a:extLst>
          </p:cNvPr>
          <p:cNvSpPr txBox="1"/>
          <p:nvPr/>
        </p:nvSpPr>
        <p:spPr>
          <a:xfrm>
            <a:off x="609600" y="550606"/>
            <a:ext cx="37067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/>
              <a:t>Arduino Car Overview-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8BBB82-D342-E837-1E98-C0B5C06C05E5}"/>
              </a:ext>
            </a:extLst>
          </p:cNvPr>
          <p:cNvSpPr txBox="1"/>
          <p:nvPr/>
        </p:nvSpPr>
        <p:spPr>
          <a:xfrm>
            <a:off x="530942" y="1643896"/>
            <a:ext cx="1071716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Components Used-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Arduino 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Motor Driver Modules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DC motors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Battery Pack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Bluetooth Module</a:t>
            </a:r>
          </a:p>
          <a:p>
            <a:endParaRPr lang="en-IN" dirty="0"/>
          </a:p>
          <a:p>
            <a:r>
              <a:rPr lang="en-IN" sz="2000" b="1" dirty="0"/>
              <a:t>Movement Instructions-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Left:</a:t>
            </a:r>
            <a:r>
              <a:rPr lang="en-IN" dirty="0"/>
              <a:t> Turns Left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Right:</a:t>
            </a:r>
            <a:r>
              <a:rPr lang="en-IN" dirty="0"/>
              <a:t> Turns Right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Up:</a:t>
            </a:r>
            <a:r>
              <a:rPr lang="en-IN" dirty="0"/>
              <a:t> Moves Forward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Down</a:t>
            </a:r>
            <a:r>
              <a:rPr lang="en-IN" dirty="0"/>
              <a:t>: Moves Backward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Stop: </a:t>
            </a:r>
            <a:r>
              <a:rPr lang="en-IN" dirty="0"/>
              <a:t>Stops Car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0858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90C569-5FBC-16B3-5DB4-93F31F6C679F}"/>
              </a:ext>
            </a:extLst>
          </p:cNvPr>
          <p:cNvSpPr txBox="1"/>
          <p:nvPr/>
        </p:nvSpPr>
        <p:spPr>
          <a:xfrm>
            <a:off x="550607" y="1091380"/>
            <a:ext cx="10323870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Dataset Overview-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We use mini speech commands dataset </a:t>
            </a:r>
            <a:r>
              <a:rPr lang="en-US" b="0" i="0" dirty="0">
                <a:solidFill>
                  <a:srgbClr val="202124"/>
                </a:solidFill>
                <a:effectLst/>
              </a:rPr>
              <a:t>a smaller version of the Speech Commands dataset. The original dataset consists of over 105,000 audio files in the </a:t>
            </a:r>
            <a:r>
              <a:rPr lang="en-US" dirty="0">
                <a:solidFill>
                  <a:srgbClr val="202124"/>
                </a:solidFill>
              </a:rPr>
              <a:t>waveform (WAAV) audio file format </a:t>
            </a:r>
            <a:r>
              <a:rPr lang="en-US" b="0" i="0" dirty="0">
                <a:solidFill>
                  <a:srgbClr val="202124"/>
                </a:solidFill>
                <a:effectLst/>
              </a:rPr>
              <a:t>of people saying 35 different words.</a:t>
            </a:r>
          </a:p>
          <a:p>
            <a:endParaRPr lang="en-US" dirty="0">
              <a:solidFill>
                <a:srgbClr val="202124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</a:rPr>
              <a:t>Each word has 1000 files we use 800 for training and 200 for validation of each</a:t>
            </a:r>
          </a:p>
          <a:p>
            <a:endParaRPr lang="en-US" sz="2000" b="1" dirty="0">
              <a:solidFill>
                <a:srgbClr val="202124"/>
              </a:solidFill>
            </a:endParaRPr>
          </a:p>
          <a:p>
            <a:r>
              <a:rPr lang="en-IN" sz="2000" b="1" dirty="0"/>
              <a:t>Data Preprocessing –</a:t>
            </a:r>
          </a:p>
          <a:p>
            <a:endParaRPr lang="en-I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data is first trimmed to 1sec and set to 16KHz sampling rate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Then is converted to spectrograms using STFT the time domain signal is converted into windows and the Fourier transform of each is calculated and represented in a matrix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FA27C5-6991-F6CC-27D4-171454C23A6D}"/>
              </a:ext>
            </a:extLst>
          </p:cNvPr>
          <p:cNvSpPr txBox="1"/>
          <p:nvPr/>
        </p:nvSpPr>
        <p:spPr>
          <a:xfrm>
            <a:off x="393290" y="176981"/>
            <a:ext cx="58305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Dataset Overview and Data Preprocessing-</a:t>
            </a:r>
          </a:p>
        </p:txBody>
      </p:sp>
    </p:spTree>
    <p:extLst>
      <p:ext uri="{BB962C8B-B14F-4D97-AF65-F5344CB8AC3E}">
        <p14:creationId xmlns:p14="http://schemas.microsoft.com/office/powerpoint/2010/main" val="1735712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0CDBE6-3DC9-DC37-9736-BA665D2571A0}"/>
              </a:ext>
            </a:extLst>
          </p:cNvPr>
          <p:cNvSpPr txBox="1"/>
          <p:nvPr/>
        </p:nvSpPr>
        <p:spPr>
          <a:xfrm>
            <a:off x="304800" y="393291"/>
            <a:ext cx="251705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/>
              <a:t>TensorFlow-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8828B3-B1C3-424C-F93E-87624D3678CF}"/>
              </a:ext>
            </a:extLst>
          </p:cNvPr>
          <p:cNvSpPr txBox="1"/>
          <p:nvPr/>
        </p:nvSpPr>
        <p:spPr>
          <a:xfrm>
            <a:off x="304800" y="1543665"/>
            <a:ext cx="961594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TensorFlow is an open source machine learning framework developed by google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 is used to design and build models including audio classification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TensorFlow provided the framework for building the model and allowed us to build a simple neural net for audio 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 allowed us to easily normalise and process the data we got allowing the model to learn efficiently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 provides build in optimisers and loss functions</a:t>
            </a:r>
          </a:p>
        </p:txBody>
      </p:sp>
    </p:spTree>
    <p:extLst>
      <p:ext uri="{BB962C8B-B14F-4D97-AF65-F5344CB8AC3E}">
        <p14:creationId xmlns:p14="http://schemas.microsoft.com/office/powerpoint/2010/main" val="959193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5ECF11-0C36-D865-6E3A-297C0269C659}"/>
              </a:ext>
            </a:extLst>
          </p:cNvPr>
          <p:cNvSpPr txBox="1"/>
          <p:nvPr/>
        </p:nvSpPr>
        <p:spPr>
          <a:xfrm>
            <a:off x="147484" y="226142"/>
            <a:ext cx="412954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/>
              <a:t>Real Time Microphone Input-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5A3060-1BC5-9D44-6E23-B3D7F405A81B}"/>
              </a:ext>
            </a:extLst>
          </p:cNvPr>
          <p:cNvSpPr txBox="1"/>
          <p:nvPr/>
        </p:nvSpPr>
        <p:spPr>
          <a:xfrm>
            <a:off x="147484" y="1199535"/>
            <a:ext cx="1129726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use the </a:t>
            </a:r>
            <a:r>
              <a:rPr lang="en-US" dirty="0" err="1"/>
              <a:t>PyAudio</a:t>
            </a:r>
            <a:r>
              <a:rPr lang="en-US" dirty="0"/>
              <a:t> library to interact with the computer's microphone and audio system. It allows us to open a stream to capture real-time audio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specify audio settings such as sampling rate (16KHz), format and buffer size. These settings control how we record the audio.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create an input audio stream, which starts recording audio in real time, capturing small chunks of audio data continuously.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waveform is normalized and converted into a spectrogram, which is the format used by the model for making predictions.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0639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ADD73B-2D2B-E68B-B1A0-CEEB0E2A9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95BFC-79E4-4993-886D-191D8573C7AE}" type="slidenum">
              <a:rPr lang="en-IN" smtClean="0"/>
              <a:t>8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D68D2A-9931-F302-A2D4-6F6EEC307D65}"/>
              </a:ext>
            </a:extLst>
          </p:cNvPr>
          <p:cNvSpPr txBox="1"/>
          <p:nvPr/>
        </p:nvSpPr>
        <p:spPr>
          <a:xfrm>
            <a:off x="641131" y="767255"/>
            <a:ext cx="413056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/>
              <a:t>Our Members-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E7CBE8-2F5E-B9B0-25AC-B9D9A1EA37C4}"/>
              </a:ext>
            </a:extLst>
          </p:cNvPr>
          <p:cNvSpPr txBox="1"/>
          <p:nvPr/>
        </p:nvSpPr>
        <p:spPr>
          <a:xfrm>
            <a:off x="462455" y="1891862"/>
            <a:ext cx="443536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Dheeran Sankaran</a:t>
            </a:r>
          </a:p>
          <a:p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Joshua Edwin</a:t>
            </a:r>
          </a:p>
          <a:p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Johan Emmanuel</a:t>
            </a:r>
          </a:p>
          <a:p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Aditya </a:t>
            </a:r>
          </a:p>
        </p:txBody>
      </p:sp>
    </p:spTree>
    <p:extLst>
      <p:ext uri="{BB962C8B-B14F-4D97-AF65-F5344CB8AC3E}">
        <p14:creationId xmlns:p14="http://schemas.microsoft.com/office/powerpoint/2010/main" val="2453773056"/>
      </p:ext>
    </p:extLst>
  </p:cSld>
  <p:clrMapOvr>
    <a:masterClrMapping/>
  </p:clrMapOvr>
</p:sld>
</file>

<file path=ppt/theme/theme1.xml><?xml version="1.0" encoding="utf-8"?>
<a:theme xmlns:a="http://schemas.openxmlformats.org/drawingml/2006/main" name="Midnigh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ace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  <wetp:taskpane dockstate="right" visibility="0" width="438" row="2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39015ED7-AE4A-492B-9068-0B1790790B8C}">
  <we:reference id="wa200003964" version="1.0.0.0" store="en-US" storeType="OMEX"/>
  <we:alternateReferences>
    <we:reference id="wa200003964" version="1.0.0.0" store="wa200003964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FA946462-DAE9-4710-AF5C-85BAAA348BBC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D2004632-EE87-4E2D-8B4E-34245F72FC84}">
  <we:reference id="wa200005669" version="2.0.0.0" store="en-US" storeType="OMEX"/>
  <we:alternateReferences>
    <we:reference id="wa200005669" version="2.0.0.0" store="wa20000566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546</Words>
  <Application>Microsoft Office PowerPoint</Application>
  <PresentationFormat>Widescreen</PresentationFormat>
  <Paragraphs>70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Trebuchet MS</vt:lpstr>
      <vt:lpstr>Wingdings 3</vt:lpstr>
      <vt:lpstr>Midnight</vt:lpstr>
      <vt:lpstr>Facet</vt:lpstr>
      <vt:lpstr>Real-Time Audio Classification for Arduino Car Control</vt:lpstr>
      <vt:lpstr>PowerPoint Presentation</vt:lpstr>
      <vt:lpstr>Main Objectives-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Dheeran Sankaran</dc:creator>
  <cp:lastModifiedBy>Dheeran Sankaran</cp:lastModifiedBy>
  <cp:revision>6</cp:revision>
  <dcterms:created xsi:type="dcterms:W3CDTF">2024-10-13T07:34:13Z</dcterms:created>
  <dcterms:modified xsi:type="dcterms:W3CDTF">2024-10-14T04:49:51Z</dcterms:modified>
</cp:coreProperties>
</file>